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GEN-AI TECHNICAL BRIEFING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Gen-AI 知識問答系統與 AI Agent 平台技術簡報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8089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Graph DB 知識圖譜 QA Chatbot ｜ OpenClaw AI Agent 安全與實作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3901" y="115773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4927" y="125610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主題一：Knowledge Graph QA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4927" y="150375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本機多模型部署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 知識圖譜建構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自然語言轉 Cypher 查詢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622750" y="115773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33776" y="125610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主題二：OpenClaw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3776" y="150375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系統架構與核心元件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安全風險與審查機制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自訂技能與多技能工作流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53901" y="4678859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60"/>
              </a:spcAft>
              <a:buNone/>
            </a:pPr>
            <a:r>
              <a:rPr lang="en-US" sz="86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日期：2026 年 2 月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議程總覽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主題一：Gen-AI 知識問答 Chatbot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開源 LLM 實測與部署（Ollama 本機模型）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領域知識圖譜建構（Neo4j）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自然語言轉 Graph DB 查詢語法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DB 比較（Neo4j/TigerGraph/ArangoDB）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主題二：OpenClaw AI Agent 平台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系統架構與核心元件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安全風險深度分析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技能安全審查機制設計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自訂技能插件與自動化工作流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1. 實際模型使用紀錄（2026-02 最新）</a:t>
            </a:r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588371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4536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已下載與切換測試（實機）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366320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r>
              <a:t>deepseek-r1:8b（5.2GB）：已完成抽取與 KG QA 實測</a:t>
            </a:r>
          </a:p>
          <a:p>
            <a:r>
              <a:t>gemma3:12b（8.1GB）：目前主模型（compose 預設）</a:t>
            </a:r>
          </a:p>
          <a:p>
            <a:r>
              <a:t>gpt-oss:20b（13GB）：已判定不納入主路徑（穩定性/相容性不足）</a:t>
            </a:r>
          </a:p>
        </p:txBody>
      </p:sp>
      <p:sp>
        <p:nvSpPr>
          <p:cNvPr id="8" name="Text 6"/>
          <p:cNvSpPr/>
          <p:nvPr/>
        </p:nvSpPr>
        <p:spPr>
          <a:xfrm>
            <a:off x="253901" y="1906191"/>
            <a:ext cx="4588371" cy="1096119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2004566"/>
            <a:ext cx="44536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目前正式設定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927" y="2252216"/>
            <a:ext cx="4366320" cy="63906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r>
              <a:t>docker-compose backend：OLLAMA_MODEL=gemma3:12b</a:t>
            </a:r>
          </a:p>
          <a:p>
            <a:r>
              <a:t>所有 API（/api/process_*、/api/query、/api/chat_general）共用同一 provider</a:t>
            </a:r>
          </a:p>
          <a:p>
            <a:r>
              <a:t>回歸/對照測試保留 deepseek-r1:8b；gpt-oss:20b 標記停用</a:t>
            </a:r>
          </a:p>
        </p:txBody>
      </p:sp>
      <p:sp>
        <p:nvSpPr>
          <p:cNvPr id="11" name="Text 9"/>
          <p:cNvSpPr/>
          <p:nvPr/>
        </p:nvSpPr>
        <p:spPr>
          <a:xfrm>
            <a:off x="4943773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04048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項目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5939879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00155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deepseek-r1:8b</a:t>
            </a:r>
          </a:p>
        </p:txBody>
      </p:sp>
      <p:sp>
        <p:nvSpPr>
          <p:cNvPr id="15" name="Text 13"/>
          <p:cNvSpPr/>
          <p:nvPr/>
        </p:nvSpPr>
        <p:spPr>
          <a:xfrm>
            <a:off x="6935986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96261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gemma3:12b</a:t>
            </a:r>
          </a:p>
        </p:txBody>
      </p:sp>
      <p:sp>
        <p:nvSpPr>
          <p:cNvPr id="17" name="Text 15"/>
          <p:cNvSpPr/>
          <p:nvPr/>
        </p:nvSpPr>
        <p:spPr>
          <a:xfrm>
            <a:off x="7932093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2368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gpt-oss:20b（停用）</a:t>
            </a:r>
          </a:p>
        </p:txBody>
      </p:sp>
      <p:sp>
        <p:nvSpPr>
          <p:cNvPr id="19" name="Text 17"/>
          <p:cNvSpPr/>
          <p:nvPr/>
        </p:nvSpPr>
        <p:spPr>
          <a:xfrm>
            <a:off x="4943773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04048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本機狀態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939879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00155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已下載</a:t>
            </a:r>
          </a:p>
        </p:txBody>
      </p:sp>
      <p:sp>
        <p:nvSpPr>
          <p:cNvPr id="23" name="Text 21"/>
          <p:cNvSpPr/>
          <p:nvPr/>
        </p:nvSpPr>
        <p:spPr>
          <a:xfrm>
            <a:off x="6935986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96261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已下載</a:t>
            </a:r>
          </a:p>
        </p:txBody>
      </p:sp>
      <p:sp>
        <p:nvSpPr>
          <p:cNvPr id="25" name="Text 23"/>
          <p:cNvSpPr/>
          <p:nvPr/>
        </p:nvSpPr>
        <p:spPr>
          <a:xfrm>
            <a:off x="7932093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92368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已下載（停用）</a:t>
            </a:r>
          </a:p>
        </p:txBody>
      </p:sp>
      <p:sp>
        <p:nvSpPr>
          <p:cNvPr id="27" name="Text 25"/>
          <p:cNvSpPr/>
          <p:nvPr/>
        </p:nvSpPr>
        <p:spPr>
          <a:xfrm>
            <a:off x="4943773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04048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專案用途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939879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155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抽取/推理對照</a:t>
            </a:r>
          </a:p>
        </p:txBody>
      </p:sp>
      <p:sp>
        <p:nvSpPr>
          <p:cNvPr id="31" name="Text 29"/>
          <p:cNvSpPr/>
          <p:nvPr/>
        </p:nvSpPr>
        <p:spPr>
          <a:xfrm>
            <a:off x="6935986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96261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目前主路徑</a:t>
            </a:r>
          </a:p>
        </p:txBody>
      </p:sp>
      <p:sp>
        <p:nvSpPr>
          <p:cNvPr id="33" name="Text 31"/>
          <p:cNvSpPr/>
          <p:nvPr/>
        </p:nvSpPr>
        <p:spPr>
          <a:xfrm>
            <a:off x="7932093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92368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不建議使用</a:t>
            </a:r>
          </a:p>
        </p:txBody>
      </p:sp>
      <p:sp>
        <p:nvSpPr>
          <p:cNvPr id="35" name="Text 33"/>
          <p:cNvSpPr/>
          <p:nvPr/>
        </p:nvSpPr>
        <p:spPr>
          <a:xfrm>
            <a:off x="4943773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04048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整合狀態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939879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00155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可切換驗證</a:t>
            </a:r>
          </a:p>
        </p:txBody>
      </p:sp>
      <p:sp>
        <p:nvSpPr>
          <p:cNvPr id="39" name="Text 37"/>
          <p:cNvSpPr/>
          <p:nvPr/>
        </p:nvSpPr>
        <p:spPr>
          <a:xfrm>
            <a:off x="6935986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96261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compose 預設</a:t>
            </a:r>
          </a:p>
        </p:txBody>
      </p:sp>
      <p:sp>
        <p:nvSpPr>
          <p:cNvPr id="41" name="Text 39"/>
          <p:cNvSpPr/>
          <p:nvPr/>
        </p:nvSpPr>
        <p:spPr>
          <a:xfrm>
            <a:off x="7932093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92368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已移除主流程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部署實戰：本機 Ollama + Docker 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70211"/>
          </a:xfrm>
          <a:prstGeom prst="roundRect">
            <a:avLst>
              <a:gd name="adj" fmla="val 785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95086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https://ollama.com/install.sh | sh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30101" y="106769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deepseek-r1:8b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30101" y="118452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# gpt-oss:20b 已停用（不建議 pull）</a:t>
            </a:r>
          </a:p>
        </p:txBody>
      </p:sp>
      <p:sp>
        <p:nvSpPr>
          <p:cNvPr id="9" name="Text 7"/>
          <p:cNvSpPr/>
          <p:nvPr/>
        </p:nvSpPr>
        <p:spPr>
          <a:xfrm>
            <a:off x="330101" y="130135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gemma3:12b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141818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 &amp;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153501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OLLAMA_BASE_URL=http://host.docker.internal:11434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0101" y="165184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OLLAMA_MODEL=gemma3:12b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53901" y="193372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4927" y="203209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封裝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4927" y="227974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/api/chat 作為應用層入口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設定 timeout 與錯誤轉換（504/500）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低溫度提高結構化輸出穩定度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常見問題與解法（含 Gemini 錯誤）</a:t>
            </a:r>
          </a:p>
        </p:txBody>
      </p:sp>
      <p:sp>
        <p:nvSpPr>
          <p:cNvPr id="18" name="Text 16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r>
              <a:t>錯誤1｜Missing GEMINI_API_KEY</a:t>
            </a:r>
          </a:p>
          <a:p>
            <a:r>
              <a:t>現象：dataset_builder 顯示「gemini unavailable, fallback to deterministic labels」。</a:t>
            </a:r>
          </a:p>
          <a:p>
            <a:r>
              <a:t>原因：GeminiLabeler 初始化時未讀到 GEMINI_API_KEY。</a:t>
            </a:r>
          </a:p>
          <a:p>
            <a:r>
              <a:t>解法：在執行前 export GEMINI_API_KEY；CI/CD 用 secret 注入，禁止寫死金鑰。</a:t>
            </a:r>
          </a:p>
          <a:p/>
          <a:p>
            <a:r>
              <a:t>錯誤2｜Gemini 標註長時間無輸出（流程卡住）</a:t>
            </a:r>
          </a:p>
          <a:p>
            <a:r>
              <a:t>現象：建題命令長時間無 stdout，整體流程看似掛住。</a:t>
            </a:r>
          </a:p>
          <a:p>
            <a:r>
              <a:t>原因：timeout + retry/backoff 疊加，外加網路/配額延遲。</a:t>
            </a:r>
          </a:p>
          <a:p>
            <a:r>
              <a:t>解法：降低 timeout、增加進度日誌、設定總執行時間上限；逾時自動 fallback。</a:t>
            </a:r>
          </a:p>
          <a:p/>
          <a:p>
            <a:r>
              <a:t>錯誤3｜Gemini HTTP 429/403（配額或權限）</a:t>
            </a:r>
          </a:p>
          <a:p>
            <a:r>
              <a:t>現象：API 回傳限流或拒絕存取，批次標註中斷。</a:t>
            </a:r>
          </a:p>
          <a:p>
            <a:r>
              <a:t>原因：配額不足、專案權限或模型可用性不符。</a:t>
            </a:r>
          </a:p>
          <a:p>
            <a:r>
              <a:t>解法：確認模型與專案權限、調整 rate_limit_seconds、保留 deterministic 後備路徑。</a:t>
            </a:r>
          </a:p>
        </p:txBody>
      </p:sp>
      <p:sp>
        <p:nvSpPr>
          <p:cNvPr id="19" name="Text 17"/>
          <p:cNvSpPr/>
          <p:nvPr/>
        </p:nvSpPr>
        <p:spPr>
          <a:xfrm>
            <a:off x="4622750" y="2072283"/>
            <a:ext cx="4267349" cy="756345"/>
          </a:xfrm>
          <a:prstGeom prst="roundRect">
            <a:avLst>
              <a:gd name="adj" fmla="val 1007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3776" y="217065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部署結論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3776" y="2418308"/>
            <a:ext cx="4126203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放在本機、backend 放在 Docker，能保留模型切換彈性，同時維持 API 穩定。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領域知識圖譜建構流程（台灣半導體）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資料下載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新聞/公司介紹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前處理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清洗/斷句/chunk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抽取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+ Relation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三元組驗證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(S,P,O)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635651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821091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06816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 寫入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906816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去重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53901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資料品質挑戰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4927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輸出格式不穩：加 JSON schema 約束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實體別名不一致：台積電/TSMC 正規化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關係類型發散：預定義關係字典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4622750" y="1561654"/>
            <a:ext cx="4267349" cy="1274862"/>
          </a:xfrm>
          <a:prstGeom prst="roundRect">
            <a:avLst>
              <a:gd name="adj" fmla="val 5977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33776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超長來源文章處理（避免記憶體爆量）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3776" y="1907679"/>
            <a:ext cx="4045297" cy="81781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清洗後再分塊：chunk_text(max_chars=900, min_chars=120)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每塊產生 chunk_id=sha1(source_url|text) 去重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逐 chunk 呼叫 LLM（不把整篇一次塞進 context）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受限 num_ctx/num_predict，降低 OOM 與 timeout 風險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單頁失敗記錄 failed_urls，其餘頁面繼續處理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Neo4j 知識圖譜建構實作（真實抽取 Prompt）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1320701"/>
          </a:xfrm>
          <a:prstGeom prst="roundRect">
            <a:avLst>
              <a:gd name="adj" fmla="val 57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95086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extract_entities_relations(text):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30101" y="106769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"""你是知識圖譜抽取器，只能輸出合法 JSON"""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30101" y="118452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entities: Person|Organization|Location|Technology|Product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30101" y="1301353"/>
            <a:ext cx="4197248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relations: FOUNDED_BY|HEADQUARTERED_IN|PRODUCES|SUPPLIES_TO|USES|COMPETES_WITH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153501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規則：關係方向必須符合規範；無法抽取就回空陣列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165184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 = ollama_chat(model=OLLAMA_MODEL, format="json", temp=0.0)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0101" y="176867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json.loads(clean(rsp))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30101" y="188550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(e:Organization {name:$name})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30101" y="200233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(a)-[:RELATION {type:$rel}]-&gt;(b)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抽取後處理（真實流程）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parse 失敗時自動 retry/repair（最多 2 次）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alias merge（例：TSMC ↔ 台積電）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 type 與方向驗證，不合法就丟棄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 fingerprint 去重，避免重複寫入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622750" y="207228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3776" y="217065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工程建議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3776" y="241830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使用 MERGE + index 避免重複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先寫 node 再寫 edge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批次匯入並記錄 dropped_relations/json_retries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7（新增）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66576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 Entity/Relation 抽取 Prompt（完整版本）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903238"/>
            <a:ext cx="4267349" cy="2722662"/>
          </a:xfrm>
          <a:prstGeom prst="roundRect">
            <a:avLst>
              <a:gd name="adj" fmla="val 279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97943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f"""</a:t>
            </a:r>
          </a:p>
        </p:txBody>
      </p:sp>
      <p:sp>
        <p:nvSpPr>
          <p:cNvPr id="7" name="Text 5"/>
          <p:cNvSpPr/>
          <p:nvPr/>
        </p:nvSpPr>
        <p:spPr>
          <a:xfrm>
            <a:off x="330101" y="109626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-Goal-</a:t>
            </a:r>
          </a:p>
        </p:txBody>
      </p:sp>
      <p:sp>
        <p:nvSpPr>
          <p:cNvPr id="8" name="Text 6"/>
          <p:cNvSpPr/>
          <p:nvPr/>
        </p:nvSpPr>
        <p:spPr>
          <a:xfrm>
            <a:off x="330101" y="121309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Given a text document and fixed ontology constraints, identify all entities of the allowed types and all clearly supported relationships among those entities.</a:t>
            </a:r>
          </a:p>
        </p:txBody>
      </p:sp>
      <p:sp>
        <p:nvSpPr>
          <p:cNvPr id="9" name="Text 7"/>
          <p:cNvSpPr/>
          <p:nvPr/>
        </p:nvSpPr>
        <p:spPr>
          <a:xfrm>
            <a:off x="330101" y="132992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Return JSON only.</a:t>
            </a:r>
          </a:p>
        </p:txBody>
      </p:sp>
      <p:sp>
        <p:nvSpPr>
          <p:cNvPr id="10" name="Text 8"/>
          <p:cNvSpPr/>
          <p:nvPr/>
        </p:nvSpPr>
        <p:spPr>
          <a:xfrm>
            <a:off x="330101" y="144675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11" name="Text 9"/>
          <p:cNvSpPr/>
          <p:nvPr/>
        </p:nvSpPr>
        <p:spPr>
          <a:xfrm>
            <a:off x="330101" y="156358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-Steps-</a:t>
            </a:r>
          </a:p>
        </p:txBody>
      </p:sp>
      <p:sp>
        <p:nvSpPr>
          <p:cNvPr id="12" name="Text 10"/>
          <p:cNvSpPr/>
          <p:nvPr/>
        </p:nvSpPr>
        <p:spPr>
          <a:xfrm>
            <a:off x="330101" y="168041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1. Identify all entities. For each entity, extract:</a:t>
            </a:r>
          </a:p>
        </p:txBody>
      </p:sp>
      <p:sp>
        <p:nvSpPr>
          <p:cNvPr id="13" name="Text 11"/>
          <p:cNvSpPr/>
          <p:nvPr/>
        </p:nvSpPr>
        <p:spPr>
          <a:xfrm>
            <a:off x="330101" y="179724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name: Name of the entity</a:t>
            </a:r>
          </a:p>
        </p:txBody>
      </p:sp>
      <p:sp>
        <p:nvSpPr>
          <p:cNvPr id="14" name="Text 12"/>
          <p:cNvSpPr/>
          <p:nvPr/>
        </p:nvSpPr>
        <p:spPr>
          <a:xfrm>
            <a:off x="330101" y="19140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type: One of [Location, Organization, Person, Product, Technology]</a:t>
            </a:r>
          </a:p>
        </p:txBody>
      </p:sp>
      <p:sp>
        <p:nvSpPr>
          <p:cNvPr id="15" name="Text 13"/>
          <p:cNvSpPr/>
          <p:nvPr/>
        </p:nvSpPr>
        <p:spPr>
          <a:xfrm>
            <a:off x="330101" y="203090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description: Comprehensive description grounded in the text</a:t>
            </a:r>
          </a:p>
        </p:txBody>
      </p:sp>
      <p:sp>
        <p:nvSpPr>
          <p:cNvPr id="16" name="Text 14"/>
          <p:cNvSpPr/>
          <p:nvPr/>
        </p:nvSpPr>
        <p:spPr>
          <a:xfrm>
            <a:off x="330101" y="214773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17" name="Text 15"/>
          <p:cNvSpPr/>
          <p:nvPr/>
        </p:nvSpPr>
        <p:spPr>
          <a:xfrm>
            <a:off x="330101" y="226456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2. From entities in step 1, identify all clearly related pairs. For each relationship, extract:</a:t>
            </a:r>
          </a:p>
        </p:txBody>
      </p:sp>
      <p:sp>
        <p:nvSpPr>
          <p:cNvPr id="18" name="Text 16"/>
          <p:cNvSpPr/>
          <p:nvPr/>
        </p:nvSpPr>
        <p:spPr>
          <a:xfrm>
            <a:off x="330101" y="238139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source: source entity name</a:t>
            </a:r>
          </a:p>
        </p:txBody>
      </p:sp>
      <p:sp>
        <p:nvSpPr>
          <p:cNvPr id="19" name="Text 17"/>
          <p:cNvSpPr/>
          <p:nvPr/>
        </p:nvSpPr>
        <p:spPr>
          <a:xfrm>
            <a:off x="330101" y="249822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target: target entity name</a:t>
            </a:r>
          </a:p>
        </p:txBody>
      </p:sp>
      <p:sp>
        <p:nvSpPr>
          <p:cNvPr id="20" name="Text 18"/>
          <p:cNvSpPr/>
          <p:nvPr/>
        </p:nvSpPr>
        <p:spPr>
          <a:xfrm>
            <a:off x="330101" y="261505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relation: One of [COMPETES_WITH, FOUNDED_BY, HEADQUARTERED_IN, PRODUCES, SUPPLIES_TO, USES]</a:t>
            </a:r>
          </a:p>
        </p:txBody>
      </p:sp>
      <p:sp>
        <p:nvSpPr>
          <p:cNvPr id="21" name="Text 19"/>
          <p:cNvSpPr/>
          <p:nvPr/>
        </p:nvSpPr>
        <p:spPr>
          <a:xfrm>
            <a:off x="330101" y="273188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description: Why source and target are related</a:t>
            </a:r>
          </a:p>
        </p:txBody>
      </p:sp>
      <p:sp>
        <p:nvSpPr>
          <p:cNvPr id="22" name="Text 20"/>
          <p:cNvSpPr/>
          <p:nvPr/>
        </p:nvSpPr>
        <p:spPr>
          <a:xfrm>
            <a:off x="330101" y="284871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relationship_strength: integer score 1..10</a:t>
            </a:r>
          </a:p>
        </p:txBody>
      </p:sp>
      <p:sp>
        <p:nvSpPr>
          <p:cNvPr id="23" name="Text 21"/>
          <p:cNvSpPr/>
          <p:nvPr/>
        </p:nvSpPr>
        <p:spPr>
          <a:xfrm>
            <a:off x="330101" y="296554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4" name="Text 22"/>
          <p:cNvSpPr/>
          <p:nvPr/>
        </p:nvSpPr>
        <p:spPr>
          <a:xfrm>
            <a:off x="330101" y="30823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3. Enforce relation direction constraints:</a:t>
            </a:r>
          </a:p>
        </p:txBody>
      </p:sp>
      <p:sp>
        <p:nvSpPr>
          <p:cNvPr id="25" name="Text 23"/>
          <p:cNvSpPr/>
          <p:nvPr/>
        </p:nvSpPr>
        <p:spPr>
          <a:xfrm>
            <a:off x="330101" y="319920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Organization -[FOUNDED_BY]-&gt; Person</a:t>
            </a:r>
          </a:p>
        </p:txBody>
      </p:sp>
      <p:sp>
        <p:nvSpPr>
          <p:cNvPr id="26" name="Text 24"/>
          <p:cNvSpPr/>
          <p:nvPr/>
        </p:nvSpPr>
        <p:spPr>
          <a:xfrm>
            <a:off x="330101" y="331603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Organization -[HEADQUARTERED_IN]-&gt; Location</a:t>
            </a:r>
          </a:p>
        </p:txBody>
      </p:sp>
      <p:sp>
        <p:nvSpPr>
          <p:cNvPr id="27" name="Text 25"/>
          <p:cNvSpPr/>
          <p:nvPr/>
        </p:nvSpPr>
        <p:spPr>
          <a:xfrm>
            <a:off x="330101" y="3432870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Organization -[PRODUCES]-&gt; Technology|Product</a:t>
            </a:r>
          </a:p>
        </p:txBody>
      </p:sp>
      <p:sp>
        <p:nvSpPr>
          <p:cNvPr id="28" name="Text 26"/>
          <p:cNvSpPr/>
          <p:nvPr/>
        </p:nvSpPr>
        <p:spPr>
          <a:xfrm>
            <a:off x="4622750" y="903238"/>
            <a:ext cx="4267349" cy="2372171"/>
          </a:xfrm>
          <a:prstGeom prst="roundRect">
            <a:avLst>
              <a:gd name="adj" fmla="val 321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8950" y="97943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Organization -[SUPPLIES_TO]-&gt; Organization</a:t>
            </a:r>
          </a:p>
        </p:txBody>
      </p:sp>
      <p:sp>
        <p:nvSpPr>
          <p:cNvPr id="30" name="Text 28"/>
          <p:cNvSpPr/>
          <p:nvPr/>
        </p:nvSpPr>
        <p:spPr>
          <a:xfrm>
            <a:off x="4698950" y="109626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Organization -[USES]-&gt; Technology|Product</a:t>
            </a:r>
          </a:p>
        </p:txBody>
      </p:sp>
      <p:sp>
        <p:nvSpPr>
          <p:cNvPr id="31" name="Text 29"/>
          <p:cNvSpPr/>
          <p:nvPr/>
        </p:nvSpPr>
        <p:spPr>
          <a:xfrm>
            <a:off x="4698950" y="121309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Organization -[COMPETES_WITH]-&gt; Organization</a:t>
            </a:r>
          </a:p>
        </p:txBody>
      </p:sp>
      <p:sp>
        <p:nvSpPr>
          <p:cNvPr id="32" name="Text 30"/>
          <p:cNvSpPr/>
          <p:nvPr/>
        </p:nvSpPr>
        <p:spPr>
          <a:xfrm>
            <a:off x="4698950" y="132992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33" name="Text 31"/>
          <p:cNvSpPr/>
          <p:nvPr/>
        </p:nvSpPr>
        <p:spPr>
          <a:xfrm>
            <a:off x="4698950" y="144675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4. Return exactly this JSON shape:</a:t>
            </a:r>
          </a:p>
        </p:txBody>
      </p:sp>
      <p:sp>
        <p:nvSpPr>
          <p:cNvPr id="34" name="Text 32"/>
          <p:cNvSpPr/>
          <p:nvPr/>
        </p:nvSpPr>
        <p:spPr>
          <a:xfrm>
            <a:off x="4698950" y="156358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{</a:t>
            </a:r>
          </a:p>
        </p:txBody>
      </p:sp>
      <p:sp>
        <p:nvSpPr>
          <p:cNvPr id="35" name="Text 33"/>
          <p:cNvSpPr/>
          <p:nvPr/>
        </p:nvSpPr>
        <p:spPr>
          <a:xfrm>
            <a:off x="4698950" y="168041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  "entities": [{"name":"台積電","type":"Organization","description":"..."}],</a:t>
            </a:r>
          </a:p>
        </p:txBody>
      </p:sp>
      <p:sp>
        <p:nvSpPr>
          <p:cNvPr id="36" name="Text 34"/>
          <p:cNvSpPr/>
          <p:nvPr/>
        </p:nvSpPr>
        <p:spPr>
          <a:xfrm>
            <a:off x="4698950" y="179724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  "relations": [{"source":"台積電","target":"張忠謀","relation":"FOUNDED_BY","description":"...","relationship_strength":9}]</a:t>
            </a:r>
          </a:p>
        </p:txBody>
      </p:sp>
      <p:sp>
        <p:nvSpPr>
          <p:cNvPr id="37" name="Text 35"/>
          <p:cNvSpPr/>
          <p:nvPr/>
        </p:nvSpPr>
        <p:spPr>
          <a:xfrm>
            <a:off x="4698950" y="19140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}</a:t>
            </a:r>
          </a:p>
        </p:txBody>
      </p:sp>
      <p:sp>
        <p:nvSpPr>
          <p:cNvPr id="38" name="Text 36"/>
          <p:cNvSpPr/>
          <p:nvPr/>
        </p:nvSpPr>
        <p:spPr>
          <a:xfrm>
            <a:off x="4698950" y="203090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39" name="Text 37"/>
          <p:cNvSpPr/>
          <p:nvPr/>
        </p:nvSpPr>
        <p:spPr>
          <a:xfrm>
            <a:off x="4698950" y="214773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5. If nothing is found, return: {"entities": [], "relations": []}</a:t>
            </a:r>
          </a:p>
        </p:txBody>
      </p:sp>
      <p:sp>
        <p:nvSpPr>
          <p:cNvPr id="40" name="Text 38"/>
          <p:cNvSpPr/>
          <p:nvPr/>
        </p:nvSpPr>
        <p:spPr>
          <a:xfrm>
            <a:off x="4698950" y="226456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6. Do not output markdown, explanations, comments, or extra text.</a:t>
            </a:r>
          </a:p>
        </p:txBody>
      </p:sp>
      <p:sp>
        <p:nvSpPr>
          <p:cNvPr id="41" name="Text 39"/>
          <p:cNvSpPr/>
          <p:nvPr/>
        </p:nvSpPr>
        <p:spPr>
          <a:xfrm>
            <a:off x="4698950" y="238139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42" name="Text 40"/>
          <p:cNvSpPr/>
          <p:nvPr/>
        </p:nvSpPr>
        <p:spPr>
          <a:xfrm>
            <a:off x="4698950" y="249822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-Real Data-</a:t>
            </a:r>
          </a:p>
        </p:txBody>
      </p:sp>
      <p:sp>
        <p:nvSpPr>
          <p:cNvPr id="43" name="Text 41"/>
          <p:cNvSpPr/>
          <p:nvPr/>
        </p:nvSpPr>
        <p:spPr>
          <a:xfrm>
            <a:off x="4698950" y="261505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Text:</a:t>
            </a:r>
          </a:p>
        </p:txBody>
      </p:sp>
      <p:sp>
        <p:nvSpPr>
          <p:cNvPr id="44" name="Text 42"/>
          <p:cNvSpPr/>
          <p:nvPr/>
        </p:nvSpPr>
        <p:spPr>
          <a:xfrm>
            <a:off x="4698950" y="273188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"""</a:t>
            </a:r>
          </a:p>
        </p:txBody>
      </p:sp>
      <p:sp>
        <p:nvSpPr>
          <p:cNvPr id="45" name="Text 43"/>
          <p:cNvSpPr/>
          <p:nvPr/>
        </p:nvSpPr>
        <p:spPr>
          <a:xfrm>
            <a:off x="4698950" y="284871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{text}</a:t>
            </a:r>
          </a:p>
        </p:txBody>
      </p:sp>
      <p:sp>
        <p:nvSpPr>
          <p:cNvPr id="46" name="Text 44"/>
          <p:cNvSpPr/>
          <p:nvPr/>
        </p:nvSpPr>
        <p:spPr>
          <a:xfrm>
            <a:off x="4698950" y="296554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"""</a:t>
            </a:r>
          </a:p>
        </p:txBody>
      </p:sp>
      <p:sp>
        <p:nvSpPr>
          <p:cNvPr id="47" name="Text 45"/>
          <p:cNvSpPr/>
          <p:nvPr/>
        </p:nvSpPr>
        <p:spPr>
          <a:xfrm>
            <a:off x="4698950" y="30823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Output:</a:t>
            </a:r>
          </a:p>
        </p:txBody>
      </p:sp>
      <p:sp>
        <p:nvSpPr>
          <p:cNvPr id="48" name="Text 46"/>
          <p:cNvSpPr/>
          <p:nvPr/>
        </p:nvSpPr>
        <p:spPr>
          <a:xfrm>
            <a:off x="4622750" y="3364260"/>
            <a:ext cx="4352696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""".strip()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自然語言轉 Cypher 查詢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推薦方法：GraphCypherQAChain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自動讀取 Neo4j schema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自動生成 Cypher 並執行查詢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可回傳 intermediate steps 便於除錯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1906191"/>
            <a:ext cx="4267349" cy="502890"/>
          </a:xfrm>
          <a:prstGeom prst="roundRect">
            <a:avLst>
              <a:gd name="adj" fmla="val 1515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0101" y="198239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GraphCypherQAChain.from_llm(...)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209922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chain.invoke({"query":"台積電創辦人是誰"})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221605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print(result["intermediate_steps"][0]["query"])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常見錯誤與修正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語法錯：prompt 加 Cypher 速查規則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方向錯：schema 明確標注箭頭方向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查無結果：用 CONTAINS + toLower 正規化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多跳困難：few-shot 範例引導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622750" y="2072283"/>
            <a:ext cx="4352696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流程：User NL → 注入 Schema → LLM 產生 Cypher → 驗證 → 執行 → 回答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Graph DB 比較：Neo4j vs TigerGraph vs ArangoDB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176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維度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422475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82751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91050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51325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TigerGraph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759625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19900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ArangoDB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53901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4176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查詢語言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422475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82751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Cypher（直觀）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591050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51325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GSQL（進階）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759625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9900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AQL（多模型）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53901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4176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整合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422475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82751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91050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51325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759625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19900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253901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4176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學習曲線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422475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482751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591050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51325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759625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19900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253901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4176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適用情境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422475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482751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知識圖譜/中型規模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591050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51325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大規模即時圖分析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759625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19900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圖+文件混合場景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253901" y="2229892"/>
            <a:ext cx="8636198" cy="352723"/>
          </a:xfrm>
          <a:prstGeom prst="roundRect">
            <a:avLst>
              <a:gd name="adj" fmla="val 2160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64927" y="2328267"/>
            <a:ext cx="858243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選型結論：</a:t>
            </a:r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本題以 Neo4j 最佳，因 LangChain 整合完整、Cypher 易被 LLM 穩定生成、開發週期最短。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OpenClaw 平台架構解析（基於原始碼）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openclaw.mjs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入口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entry.ts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setup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gateway/server.impl.ts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核心路由服務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88208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744843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 / agents / plugins / cron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744843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功能模組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3901" y="1561654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核心元件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4927" y="1907679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Gateway：WebSocket + HTTP + lifecycle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Channels：多平台訊息標準化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Agents：session/model/sandbox 管理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Plugins/Skills：工具與能力擴充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622750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3776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程式碼觀察重點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3776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協定版本化（request/response/event frame）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通道能力抽象（polls/reactions/media）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registry 含 tool/channel/provider/hook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OpenClaw 安全風險分析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原始碼內建安全機制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SandboxConfig + ToolPolicy（open/restricted/closed）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 approvals（always/once/never）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DANGEROUS_HOST_ENV_VARS 防注入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設備身份驗證（P-256 + token）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207228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217065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外部曝露風險（社群觀測）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927" y="241830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大量公開實例增加攻擊面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惡意技能與供應鏈風險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 + bash 濫用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憑證外洩與資料外傳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四大風險類別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1) Prompt Injection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2) ClawHub 供應鏈攻擊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3) 憑證與資料外洩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4) bash 工具提權濫用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622750" y="2072283"/>
            <a:ext cx="4352696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重點：OpenClaw 已有安全底座，但預設值與技能生態治理仍需強化。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技能安全審查機制設計（四層防禦）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靜態審查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沙箱強制執行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語意審查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4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運行監控 + 回滾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3901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實作原則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4927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沿用既有 sandbox/exec 元件再增強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預設改為 restricted + requireApproval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掃描危險模式（curl|bash、eval、base64 decode）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622750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3776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落地策略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3776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安裝前掃描 + 簽章版本控管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運行時異常檢測（新網域/新路徑）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社群回報觸發重新審查與緊急下架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 自訂技能插件開發（SKILL.md）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技能一：system-info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查詢本機時間、uptime、磁碟狀態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 宣告 requires.bins=[date]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限制長時間網路診斷指令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1906191"/>
            <a:ext cx="4267349" cy="619720"/>
          </a:xfrm>
          <a:prstGeom prst="roundRect">
            <a:avLst>
              <a:gd name="adj" fmla="val 122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0101" y="198239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system-info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209922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metadata.openclaw.requires.bins: [date]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221605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'+%Y-%m-%d %H:%M:%S %Z'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0101" y="233288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 / | tail -1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622750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技能二：file-digest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3776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讀取指定檔案並產生結構化摘要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禁止敏感檔（.env、id_rsa）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大檔案只讀前 200 行防資源濫用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622750" y="1906191"/>
            <a:ext cx="4267349" cy="619720"/>
          </a:xfrm>
          <a:prstGeom prst="roundRect">
            <a:avLst>
              <a:gd name="adj" fmla="val 122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98950" y="198239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file-digest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698950" y="209922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-200 /path/to/file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698950" y="221605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/path/to/file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698950" y="233288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json.tool data.json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 多技能自動化工作流程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 09:00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workflow trigger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daily-collect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B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daily-summarize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C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daily-report + notify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3901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4927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.local/collect.md：檔案清單 + 系統狀態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.local/summaries.md：逐檔摘要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.local/daily-report-YYYY-MM-DD.md：最終報告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622750" y="1561654"/>
            <a:ext cx="4267349" cy="619720"/>
          </a:xfrm>
          <a:prstGeom prst="roundRect">
            <a:avLst>
              <a:gd name="adj" fmla="val 122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98950" y="163785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Cron: 0 9 * * *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698950" y="175468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Message: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698950" y="187151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請依序執行 /daily-collect、/daily-summarize、/daily-report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698950" y="198834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完成後通知使用者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 總結與未來展望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主題一結論（LLM + Graph DB）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r>
              <a:t>Neo4j + Cypher 對知識圖譜 QA 最快落地</a:t>
            </a:r>
          </a:p>
          <a:p>
            <a:r>
              <a:t>本機主模型路徑：gemma3:12b（主）、deepseek-r1:8b（對照）</a:t>
            </a:r>
          </a:p>
          <a:p>
            <a:r>
              <a:t>gpt-oss:20b 已從主流程移除；後續可升級 GraphRAG（向量 + 圖遍歷）</a:t>
            </a:r>
          </a:p>
        </p:txBody>
      </p:sp>
      <p:sp>
        <p:nvSpPr>
          <p:cNvPr id="8" name="Text 6"/>
          <p:cNvSpPr/>
          <p:nvPr/>
        </p:nvSpPr>
        <p:spPr>
          <a:xfrm>
            <a:off x="4622750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主題二結論（OpenClaw）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3776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原始碼已有企業級安全元件基礎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高風險在技能供應鏈與預設配置鬆散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建議四層防禦 + sandbox 預設啟用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22750" y="1906191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3776" y="2004566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3776" y="2252216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技能簽章與版本治理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行為監控與異常回滾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 Agent 分層權限設計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600373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85824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感謝聆聽，歡迎提問與討論。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858243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可討論方向：模型選型、Cypher 生成品質、OpenClaw 安全治理與企業落地流程。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1576536"/>
            <a:ext cx="4267349" cy="756345"/>
          </a:xfrm>
          <a:prstGeom prst="roundRect">
            <a:avLst>
              <a:gd name="adj" fmla="val 1007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1674912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927" y="1922562"/>
            <a:ext cx="4126203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本簡報內容以技術原型與原始碼分析為主，實際上線需再做壓測、資安滲測與維運設計。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22750" y="1576536"/>
            <a:ext cx="4267349" cy="600373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3776" y="1674912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交付檔案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3776" y="1922562"/>
            <a:ext cx="4126203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/Users/silver/Documents/鴻海/genai-graphdb-openclaw-briefing.pptx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Foxconn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Gen-AI 知識問答系統與 AI Agent 平台技術簡報</dc:title>
  <dc:subject>Gen-AI Knowledge Graph and OpenClaw Security</dc:subject>
  <dc:creator>Codex</dc:creator>
  <cp:lastModifiedBy>Codex</cp:lastModifiedBy>
  <cp:revision>1</cp:revision>
  <dcterms:created xsi:type="dcterms:W3CDTF">2026-02-12T03:14:46Z</dcterms:created>
  <dcterms:modified xsi:type="dcterms:W3CDTF">2026-02-12T03:14:46Z</dcterms:modified>
</cp:coreProperties>
</file>